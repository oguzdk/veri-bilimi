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14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ADB5"/>
                </a:solidFill>
              </a:defRPr>
            </a:pPr>
            <a:r>
              <a:t>Derin Öğrenme ile Enerji Tüketimi Tahminlemesi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EEEEEE"/>
                </a:solidFill>
              </a:defRPr>
            </a:pPr>
            <a:r>
              <a:rPr dirty="0"/>
              <a:t>LSTM </a:t>
            </a:r>
            <a:r>
              <a:rPr dirty="0" err="1"/>
              <a:t>Ağları</a:t>
            </a:r>
            <a:r>
              <a:rPr dirty="0"/>
              <a:t> </a:t>
            </a:r>
            <a:r>
              <a:rPr dirty="0" err="1"/>
              <a:t>Kullanarak</a:t>
            </a:r>
            <a:r>
              <a:rPr dirty="0"/>
              <a:t> Zaman </a:t>
            </a:r>
            <a:r>
              <a:rPr dirty="0" err="1"/>
              <a:t>Serisi</a:t>
            </a:r>
            <a:r>
              <a:rPr dirty="0"/>
              <a:t> </a:t>
            </a:r>
            <a:r>
              <a:rPr dirty="0" err="1"/>
              <a:t>Analizi</a:t>
            </a:r>
            <a:r>
              <a:rPr dirty="0"/>
              <a:t> (</a:t>
            </a:r>
            <a:r>
              <a:rPr dirty="0" err="1"/>
              <a:t>Haftalık</a:t>
            </a:r>
            <a:r>
              <a:rPr dirty="0"/>
              <a:t>, </a:t>
            </a:r>
            <a:r>
              <a:rPr dirty="0" err="1"/>
              <a:t>Aylık</a:t>
            </a:r>
            <a:r>
              <a:rPr dirty="0"/>
              <a:t>, </a:t>
            </a:r>
            <a:r>
              <a:rPr dirty="0" err="1"/>
              <a:t>Yıllık</a:t>
            </a:r>
            <a:r>
              <a:rPr dirty="0"/>
              <a:t>)</a:t>
            </a:r>
          </a:p>
          <a:p>
            <a:pPr>
              <a:defRPr sz="2000">
                <a:solidFill>
                  <a:srgbClr val="EEEEEE"/>
                </a:solidFill>
              </a:defRPr>
            </a:pPr>
            <a:r>
              <a:rPr dirty="0"/>
              <a:t>ENM421 Veri </a:t>
            </a:r>
            <a:r>
              <a:rPr dirty="0" err="1"/>
              <a:t>Bilimi</a:t>
            </a:r>
            <a:r>
              <a:rPr dirty="0"/>
              <a:t> </a:t>
            </a:r>
            <a:r>
              <a:rPr dirty="0" err="1"/>
              <a:t>Projesi</a:t>
            </a:r>
            <a:endParaRPr dirty="0"/>
          </a:p>
          <a:p>
            <a:pPr>
              <a:defRPr sz="2000">
                <a:solidFill>
                  <a:srgbClr val="EEEEEE"/>
                </a:solidFill>
              </a:defRPr>
            </a:pPr>
            <a:r>
              <a:rPr lang="tr-TR" dirty="0"/>
              <a:t>Oğuzhan Dikmen, Gül Erten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1. Ele Alınan Problemin Tanımı: Neden Enerji Tahmini?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Şebeke Yönetimi ve Stabilite: Elektrik enerjisi büyük ölçeklerde depolanamayan bir kaynaktır. Üretim ve tüketim anlık olarak dengede olmalıdır.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Ekonomik Maliyetler: Tüketimin eksik tahmin edilmesi elektrik kesintilerine (blackout), fazla tahmin edilmesi ise gereksiz kaynak israfına yol açar.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Geleneksel Yaklaşımların Yetersizliği: Zaman serilerinde çok fazla lineer olmayan (non-linear) yapı ve anlık şok dalgaları vardır. Basit hareketli ortalamalar veya istatistiksel regresyonlar bu karmaşayı çözmekte yetersiz kalır.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Projenin Ana Hedefi: Sadece geçmiş tüketim verilerine dayanarak, ilerideki haftalık, aylık ve yıllık makro enerji talebini yüksek isabetle öngören otonom bir Derin Öğrenme sistemi kurmaktır.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rPr dirty="0"/>
              <a:t>2. </a:t>
            </a:r>
            <a:r>
              <a:rPr dirty="0" err="1"/>
              <a:t>Keşifsel</a:t>
            </a:r>
            <a:r>
              <a:rPr dirty="0"/>
              <a:t> Veri </a:t>
            </a:r>
            <a:r>
              <a:rPr dirty="0" err="1"/>
              <a:t>Analizi</a:t>
            </a:r>
            <a:r>
              <a:rPr dirty="0"/>
              <a:t>: PJME Veri </a:t>
            </a:r>
            <a:r>
              <a:rPr dirty="0" err="1"/>
              <a:t>Seti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Veri Kaynağı: ABD'deki en büyük elektrik şebekelerinden biri olan PJM Interconnection (PJM East Region).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Veri Hacmi: 2002 ile 2018 yılları arasındaki enerji tüketimini saatlik bazda gösteren 145.000'den fazla satır.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Mevsimsel Dağılım (Seasonality): Analizlerde tüketimin özellikle yaz aylarında (klima kaynaklı) keskin zirveler yaptığı, kışın ise ısınma kaynaklı ikincil zirvelere ulaştığı gözlemlenmiştir.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Trend ve Döngüsellik (Cyclicity): Saatlik verinin kendi içinde çok fazla beyaz gürültü (white noise) barındırdığı, bu durumun makro ölçekli modelleri (Aylık/Yıllık) ezbere (overfitting) itebileceği tespit edilmiştir.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3. Veri Temizleme ve Ön İşleme (Bölüm 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Zaman Damgası (Datetime) İndekslemesi: Ham verideki tarih kolonları Pandas kullanılarak 'Datetime' formatına dönüştürüldü ve modelin zaman eksenini tanıması için Index olarak ayarlandı.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Veri İndirgeme (Resampling): Keşifsel analizde tespit edilen 'saatlik gürültü' problemini çözmek için veri .resample('D').mean() metodu ile 'Günlük Ortalamalara' indirgendi. Bu sayede model günlük, haftalık ve yıllık periyotları daha pürüzsüz öğrenebildi.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Eksik Veri (Missing Data) Yönetimi: İndirgeme işlemi sırasında veya ham veride bulunan eksik satırlar (NaN) silinerek (dropna) zaman akışının kopması engellendi.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3. Veri Temizleme ve Ön İşleme (Bölüm 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FFBE00"/>
                </a:solidFill>
              </a:defRPr>
            </a:pPr>
            <a:r>
              <a:t>Ölçeklendirme (MinMaxScaler): Derin öğrenme algoritmalarının gradyan hesaplamalarında sapmamaları için 20.000 - 40.000 MW arasındaki tüketim değerleri [0, 1] aralığına sıkıştırıldı.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Zaman Serisi Pencerelemesi (Look-back &amp; Forecast Horizon): Nöral ağların zamanı anlaması için dizi (sequence) matrisleri oluşturuldu.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  - X Matrisi (Girdiler): Modelin geçmişe dönük bakacağı gün sayısı (Look-back). Haftalık için 60, Aylık için 90, Yıllık için 365.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  - Y Matrisi (Çıktılar): Modelin tek adımda üreteceği gelecek gün sayısı (Forecast Horizon). (7, 30 ve 365 gün).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Veri Bölünmesi: Test setine dokunulmaması kaydıyla (Data Leakage'ı önlemek için) verinin ilk %80'i Eğitim (Train), son %20'si Test için ayrıştırıldı.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rPr dirty="0"/>
              <a:t>4. </a:t>
            </a:r>
            <a:r>
              <a:rPr dirty="0" err="1"/>
              <a:t>Kullanılan</a:t>
            </a:r>
            <a:r>
              <a:rPr dirty="0"/>
              <a:t> </a:t>
            </a:r>
            <a:r>
              <a:rPr lang="tr-TR" dirty="0"/>
              <a:t>Derin</a:t>
            </a:r>
            <a:r>
              <a:rPr dirty="0"/>
              <a:t> </a:t>
            </a:r>
            <a:r>
              <a:rPr dirty="0" err="1"/>
              <a:t>Öğrenme</a:t>
            </a:r>
            <a:r>
              <a:rPr dirty="0"/>
              <a:t> </a:t>
            </a:r>
            <a:r>
              <a:rPr dirty="0" err="1"/>
              <a:t>Algoritması</a:t>
            </a:r>
            <a:r>
              <a:rPr dirty="0"/>
              <a:t> (</a:t>
            </a:r>
            <a:r>
              <a:rPr dirty="0" err="1"/>
              <a:t>Bölüm</a:t>
            </a:r>
            <a:r>
              <a:rPr dirty="0"/>
              <a:t> 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700">
                <a:solidFill>
                  <a:srgbClr val="FFBE00"/>
                </a:solidFill>
              </a:defRPr>
            </a:pPr>
            <a:r>
              <a:rPr dirty="0" err="1"/>
              <a:t>Seçilen</a:t>
            </a:r>
            <a:r>
              <a:rPr dirty="0"/>
              <a:t> Model: </a:t>
            </a:r>
            <a:r>
              <a:rPr dirty="0" err="1"/>
              <a:t>Derin</a:t>
            </a:r>
            <a:r>
              <a:rPr dirty="0"/>
              <a:t> </a:t>
            </a:r>
            <a:r>
              <a:rPr dirty="0" err="1"/>
              <a:t>Öğrenme</a:t>
            </a:r>
            <a:r>
              <a:rPr dirty="0"/>
              <a:t> </a:t>
            </a:r>
            <a:r>
              <a:rPr dirty="0" err="1"/>
              <a:t>sınıfından</a:t>
            </a:r>
            <a:r>
              <a:rPr dirty="0"/>
              <a:t> LSTM (Long Short-Term Memory).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rPr dirty="0" err="1"/>
              <a:t>Neden</a:t>
            </a:r>
            <a:r>
              <a:rPr dirty="0"/>
              <a:t> LSTM?: </a:t>
            </a:r>
            <a:r>
              <a:rPr dirty="0" err="1"/>
              <a:t>Standart</a:t>
            </a:r>
            <a:r>
              <a:rPr dirty="0"/>
              <a:t> </a:t>
            </a:r>
            <a:r>
              <a:rPr dirty="0" err="1"/>
              <a:t>sinir</a:t>
            </a:r>
            <a:r>
              <a:rPr dirty="0"/>
              <a:t> </a:t>
            </a:r>
            <a:r>
              <a:rPr dirty="0" err="1"/>
              <a:t>ağları</a:t>
            </a:r>
            <a:r>
              <a:rPr dirty="0"/>
              <a:t> zaman </a:t>
            </a:r>
            <a:r>
              <a:rPr dirty="0" err="1"/>
              <a:t>kavramını</a:t>
            </a:r>
            <a:r>
              <a:rPr dirty="0"/>
              <a:t> </a:t>
            </a:r>
            <a:r>
              <a:rPr dirty="0" err="1"/>
              <a:t>anlayamaz</a:t>
            </a:r>
            <a:r>
              <a:rPr dirty="0"/>
              <a:t>. Basit </a:t>
            </a:r>
            <a:r>
              <a:rPr dirty="0" err="1"/>
              <a:t>tekrarlayan</a:t>
            </a:r>
            <a:r>
              <a:rPr dirty="0"/>
              <a:t> </a:t>
            </a:r>
            <a:r>
              <a:rPr dirty="0" err="1"/>
              <a:t>ağlar</a:t>
            </a:r>
            <a:r>
              <a:rPr dirty="0"/>
              <a:t> (RNN) </a:t>
            </a:r>
            <a:r>
              <a:rPr dirty="0" err="1"/>
              <a:t>ise</a:t>
            </a:r>
            <a:r>
              <a:rPr dirty="0"/>
              <a:t> 'Vanishing Gradient' </a:t>
            </a:r>
            <a:r>
              <a:rPr dirty="0" err="1"/>
              <a:t>nedeniyle</a:t>
            </a:r>
            <a:r>
              <a:rPr dirty="0"/>
              <a:t> </a:t>
            </a:r>
            <a:r>
              <a:rPr dirty="0" err="1"/>
              <a:t>eski</a:t>
            </a:r>
            <a:r>
              <a:rPr dirty="0"/>
              <a:t> </a:t>
            </a:r>
            <a:r>
              <a:rPr dirty="0" err="1"/>
              <a:t>günleri</a:t>
            </a:r>
            <a:r>
              <a:rPr dirty="0"/>
              <a:t> </a:t>
            </a:r>
            <a:r>
              <a:rPr dirty="0" err="1"/>
              <a:t>hızlı</a:t>
            </a:r>
            <a:r>
              <a:rPr dirty="0"/>
              <a:t> </a:t>
            </a:r>
            <a:r>
              <a:rPr dirty="0" err="1"/>
              <a:t>unutur</a:t>
            </a:r>
            <a:r>
              <a:rPr dirty="0"/>
              <a:t>. LSTM, </a:t>
            </a:r>
            <a:r>
              <a:rPr dirty="0" err="1"/>
              <a:t>içindeki</a:t>
            </a:r>
            <a:r>
              <a:rPr dirty="0"/>
              <a:t> '</a:t>
            </a:r>
            <a:r>
              <a:rPr dirty="0" err="1"/>
              <a:t>Hücre</a:t>
            </a:r>
            <a:r>
              <a:rPr dirty="0"/>
              <a:t> Durumu (Cell State)'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kapıları</a:t>
            </a:r>
            <a:r>
              <a:rPr dirty="0"/>
              <a:t> (Forget, Input, Output)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hangi</a:t>
            </a:r>
            <a:r>
              <a:rPr dirty="0"/>
              <a:t> </a:t>
            </a:r>
            <a:r>
              <a:rPr dirty="0" err="1"/>
              <a:t>geçmiş</a:t>
            </a:r>
            <a:r>
              <a:rPr dirty="0"/>
              <a:t> </a:t>
            </a:r>
            <a:r>
              <a:rPr dirty="0" err="1"/>
              <a:t>verinin</a:t>
            </a:r>
            <a:r>
              <a:rPr dirty="0"/>
              <a:t> </a:t>
            </a:r>
            <a:r>
              <a:rPr dirty="0" err="1"/>
              <a:t>hatırlanacağına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unutulacağına</a:t>
            </a:r>
            <a:r>
              <a:rPr dirty="0"/>
              <a:t> </a:t>
            </a:r>
            <a:r>
              <a:rPr dirty="0" err="1"/>
              <a:t>matematiksel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verir</a:t>
            </a:r>
            <a:r>
              <a:rPr dirty="0"/>
              <a:t>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rPr dirty="0"/>
              <a:t>Model </a:t>
            </a:r>
            <a:r>
              <a:rPr dirty="0" err="1"/>
              <a:t>Derinliği</a:t>
            </a:r>
            <a:r>
              <a:rPr dirty="0"/>
              <a:t>: </a:t>
            </a:r>
            <a:r>
              <a:rPr dirty="0" err="1"/>
              <a:t>Daha</a:t>
            </a:r>
            <a:r>
              <a:rPr dirty="0"/>
              <a:t> </a:t>
            </a:r>
            <a:r>
              <a:rPr dirty="0" err="1"/>
              <a:t>karmaşık</a:t>
            </a:r>
            <a:r>
              <a:rPr dirty="0"/>
              <a:t> </a:t>
            </a:r>
            <a:r>
              <a:rPr dirty="0" err="1"/>
              <a:t>örüntüleri</a:t>
            </a:r>
            <a:r>
              <a:rPr dirty="0"/>
              <a:t> </a:t>
            </a:r>
            <a:r>
              <a:rPr dirty="0" err="1"/>
              <a:t>çözebilmek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modele</a:t>
            </a:r>
            <a:r>
              <a:rPr dirty="0"/>
              <a:t> art </a:t>
            </a:r>
            <a:r>
              <a:rPr dirty="0" err="1"/>
              <a:t>arda</a:t>
            </a:r>
            <a:r>
              <a:rPr dirty="0"/>
              <a:t> 128 </a:t>
            </a:r>
            <a:r>
              <a:rPr dirty="0" err="1"/>
              <a:t>nöronlu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64 </a:t>
            </a:r>
            <a:r>
              <a:rPr dirty="0" err="1"/>
              <a:t>nöronlu</a:t>
            </a:r>
            <a:r>
              <a:rPr dirty="0"/>
              <a:t>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adet</a:t>
            </a:r>
            <a:r>
              <a:rPr dirty="0"/>
              <a:t> LSTM </a:t>
            </a:r>
            <a:r>
              <a:rPr dirty="0" err="1"/>
              <a:t>katmanı</a:t>
            </a:r>
            <a:r>
              <a:rPr dirty="0"/>
              <a:t> </a:t>
            </a:r>
            <a:r>
              <a:rPr dirty="0" err="1"/>
              <a:t>eklenmiştir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4. Algoritma ve Optimizasyon Teknikleri (Bölüm 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Aşırı Öğrenmeyi (Overfitting) Engelleme: Nöral ağın veriyi ezberlemesini önlemek için her katmanın arasına %20 oranında (Dropout) eklenmiştir.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Aktivasyon Fonksiyonu ve Clipping: Zaman serilerindeki 'Exploding Gradient (NaN Loss)' krizini çözmek için aktivasyon fonksiyonu 'tanh' olarak değiştirilmiş, Optimizer (Adam) içine 'clipvalue=1.0' koruması yerleştirilmiştir.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Dinamik Öğrenme (ReduceLROnPlateau): Model hedefe yaklaştıkça daha hassas ince ayar yapabilmesi için hata düşüşü durakladığında öğrenme oranını (Learning Rate) düşüren callback kullanılmıştır.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Erken Durdurma (Early Stopping): Maksimum 100 Epoch tanımlanmış, ancak model val_loss (doğrulama hatası) değerini düşürememeye başlarsa (25 epoch sabır) eğitimi kesip en iyi ağırlıkları geri yüklemesi sağlanmıştır.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5. Sonuçların Yorumlanması: Metrikler (Bölüm 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Performans Değerlendirmesi: Modelin başarısı Test seti üzerinde 3 temel metrik ile ölçülmüştür: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  1. MAE (Mean Absolute Error): Modelin tahminlerinin gerçek tüketimden ortalama kaç Megawatt saptığını ifade eder.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  2. RMSE (Root Mean Squared Error): Hatayı karesel alıp kökünü çıkarır. Ekstrem/Aykırı sapan hataları çok daha ağır cezalandırır.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  3. MAPE (Mean Absolute Percentage Error): Hatanın mutlak oransal (%) boyutunu gösterir. İsabet yüzdesi için kullanılır.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Bu metriklerin düşük olması, modelin varyans karşısındaki dayanıklılığını kanıtlar.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5. Sonuçların Yorumlanması: Elde Edilen Bulgular (Bölüm 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Haftalık Tahmin (7 Gün Ufuk):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 - MAPE: ~%6.69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 - Yorum: Kısa vadede model yaklaşık %93'lük bir isabet oranına ulaşmıştır. Pazartesi sendromları veya hafta sonu düşüşleri gibi dar alandaki trendler başarıyla yakalanmıştır.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endParaRPr/>
          </a:p>
          <a:p>
            <a:pPr>
              <a:defRPr sz="1700">
                <a:solidFill>
                  <a:srgbClr val="EEEEEE"/>
                </a:solidFill>
              </a:defRPr>
            </a:pPr>
            <a:r>
              <a:t>Aylık ve Yıllık Tahmin (30 ve 365 Gün Ufuk):</a:t>
            </a:r>
          </a:p>
          <a:p>
            <a:pPr>
              <a:defRPr sz="1700">
                <a:solidFill>
                  <a:srgbClr val="FFBE00"/>
                </a:solidFill>
              </a:defRPr>
            </a:pPr>
            <a:r>
              <a:t> - MAPE: ~%9.14 (Aylık) | ~%9.35 (Yıllık)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t> - Yorum: Ufuk genişledikçe tek hamlede çok uzak geleceği tahmin etmenin getirdiği doğal bir hata artışı gözlense de, hata payı %9 bandında sabit kalmıştır. Yıllık tahminde saatlik zikzaklar yerine hedeflenen makro yaz/kış eğrisi elde edilmiştir.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5. Sonuçların Yorumlanması: Gelecek Çalışmalar (Bölüm 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700">
                <a:solidFill>
                  <a:srgbClr val="EEEEEE"/>
                </a:solidFill>
              </a:defRPr>
            </a:pPr>
            <a:r>
              <a:rPr dirty="0" err="1"/>
              <a:t>Mevcut</a:t>
            </a:r>
            <a:r>
              <a:rPr dirty="0"/>
              <a:t> Durum </a:t>
            </a:r>
            <a:r>
              <a:rPr dirty="0" err="1"/>
              <a:t>Özeti</a:t>
            </a:r>
            <a:r>
              <a:rPr dirty="0"/>
              <a:t>: </a:t>
            </a:r>
            <a:r>
              <a:rPr dirty="0" err="1"/>
              <a:t>Nöral</a:t>
            </a:r>
            <a:r>
              <a:rPr dirty="0"/>
              <a:t> </a:t>
            </a:r>
            <a:r>
              <a:rPr dirty="0" err="1"/>
              <a:t>ağımız</a:t>
            </a:r>
            <a:r>
              <a:rPr dirty="0"/>
              <a:t> </a:t>
            </a:r>
            <a:r>
              <a:rPr dirty="0" err="1"/>
              <a:t>dışarıdan</a:t>
            </a:r>
            <a:r>
              <a:rPr dirty="0"/>
              <a:t> </a:t>
            </a:r>
            <a:r>
              <a:rPr dirty="0" err="1"/>
              <a:t>hiçbir</a:t>
            </a:r>
            <a:r>
              <a:rPr dirty="0"/>
              <a:t> </a:t>
            </a:r>
            <a:r>
              <a:rPr dirty="0" err="1"/>
              <a:t>kopya</a:t>
            </a:r>
            <a:r>
              <a:rPr dirty="0"/>
              <a:t> </a:t>
            </a:r>
            <a:r>
              <a:rPr dirty="0" err="1"/>
              <a:t>almadan</a:t>
            </a:r>
            <a:r>
              <a:rPr dirty="0"/>
              <a:t> (</a:t>
            </a:r>
            <a:r>
              <a:rPr dirty="0" err="1"/>
              <a:t>sıcaklık</a:t>
            </a:r>
            <a:r>
              <a:rPr dirty="0"/>
              <a:t>, </a:t>
            </a:r>
            <a:r>
              <a:rPr dirty="0" err="1"/>
              <a:t>resmi</a:t>
            </a:r>
            <a:r>
              <a:rPr dirty="0"/>
              <a:t> </a:t>
            </a:r>
            <a:r>
              <a:rPr dirty="0" err="1"/>
              <a:t>tatil</a:t>
            </a:r>
            <a:r>
              <a:rPr dirty="0"/>
              <a:t> vb. </a:t>
            </a:r>
            <a:r>
              <a:rPr dirty="0" err="1"/>
              <a:t>olmadan</a:t>
            </a:r>
            <a:r>
              <a:rPr dirty="0"/>
              <a:t>) </a:t>
            </a:r>
            <a:r>
              <a:rPr dirty="0" err="1"/>
              <a:t>sırf</a:t>
            </a:r>
            <a:r>
              <a:rPr dirty="0"/>
              <a:t> </a:t>
            </a:r>
            <a:r>
              <a:rPr dirty="0" err="1"/>
              <a:t>kendi</a:t>
            </a:r>
            <a:r>
              <a:rPr dirty="0"/>
              <a:t> </a:t>
            </a:r>
            <a:r>
              <a:rPr dirty="0" err="1"/>
              <a:t>tarihindeki</a:t>
            </a:r>
            <a:r>
              <a:rPr dirty="0"/>
              <a:t> </a:t>
            </a:r>
            <a:r>
              <a:rPr dirty="0" err="1"/>
              <a:t>tüketim</a:t>
            </a:r>
            <a:r>
              <a:rPr dirty="0"/>
              <a:t> </a:t>
            </a:r>
            <a:r>
              <a:rPr dirty="0" err="1"/>
              <a:t>sayılarına</a:t>
            </a:r>
            <a:r>
              <a:rPr dirty="0"/>
              <a:t> </a:t>
            </a:r>
            <a:r>
              <a:rPr dirty="0" err="1"/>
              <a:t>bakarak</a:t>
            </a:r>
            <a:r>
              <a:rPr dirty="0"/>
              <a:t> %90'ın </a:t>
            </a:r>
            <a:r>
              <a:rPr dirty="0" err="1"/>
              <a:t>üzerinde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başarı</a:t>
            </a:r>
            <a:r>
              <a:rPr dirty="0"/>
              <a:t> </a:t>
            </a:r>
            <a:r>
              <a:rPr dirty="0" err="1"/>
              <a:t>sağlamıştır</a:t>
            </a:r>
            <a:r>
              <a:rPr dirty="0"/>
              <a:t>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rPr dirty="0" err="1"/>
              <a:t>İleriye</a:t>
            </a:r>
            <a:r>
              <a:rPr dirty="0"/>
              <a:t> </a:t>
            </a:r>
            <a:r>
              <a:rPr dirty="0" err="1"/>
              <a:t>Dönük</a:t>
            </a:r>
            <a:r>
              <a:rPr dirty="0"/>
              <a:t> </a:t>
            </a:r>
            <a:r>
              <a:rPr dirty="0" err="1"/>
              <a:t>İyileştirmeler</a:t>
            </a:r>
            <a:r>
              <a:rPr dirty="0"/>
              <a:t> (Feature Engineering):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rPr dirty="0"/>
              <a:t> 1. Zaman </a:t>
            </a:r>
            <a:r>
              <a:rPr dirty="0" err="1"/>
              <a:t>Öznitelikleri</a:t>
            </a:r>
            <a:r>
              <a:rPr dirty="0"/>
              <a:t>: </a:t>
            </a:r>
            <a:r>
              <a:rPr dirty="0" err="1"/>
              <a:t>Sisteme</a:t>
            </a:r>
            <a:r>
              <a:rPr dirty="0"/>
              <a:t> '</a:t>
            </a:r>
            <a:r>
              <a:rPr dirty="0" err="1"/>
              <a:t>Aylar</a:t>
            </a:r>
            <a:r>
              <a:rPr dirty="0"/>
              <a:t> (1-12)', '</a:t>
            </a:r>
            <a:r>
              <a:rPr dirty="0" err="1"/>
              <a:t>Haftanın</a:t>
            </a:r>
            <a:r>
              <a:rPr dirty="0"/>
              <a:t> </a:t>
            </a:r>
            <a:r>
              <a:rPr dirty="0" err="1"/>
              <a:t>Günleri</a:t>
            </a:r>
            <a:r>
              <a:rPr dirty="0"/>
              <a:t> (0-6)' </a:t>
            </a:r>
            <a:r>
              <a:rPr dirty="0" err="1"/>
              <a:t>bilgisi</a:t>
            </a:r>
            <a:r>
              <a:rPr dirty="0"/>
              <a:t> </a:t>
            </a:r>
            <a:r>
              <a:rPr dirty="0" err="1"/>
              <a:t>ayrı</a:t>
            </a:r>
            <a:r>
              <a:rPr dirty="0"/>
              <a:t> </a:t>
            </a:r>
            <a:r>
              <a:rPr dirty="0" err="1"/>
              <a:t>kolonlar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verilirse</a:t>
            </a:r>
            <a:r>
              <a:rPr dirty="0"/>
              <a:t> model </a:t>
            </a:r>
            <a:r>
              <a:rPr dirty="0" err="1"/>
              <a:t>takvim</a:t>
            </a:r>
            <a:r>
              <a:rPr dirty="0"/>
              <a:t> </a:t>
            </a:r>
            <a:r>
              <a:rPr dirty="0" err="1"/>
              <a:t>algısı</a:t>
            </a:r>
            <a:r>
              <a:rPr dirty="0"/>
              <a:t> </a:t>
            </a:r>
            <a:r>
              <a:rPr dirty="0" err="1"/>
              <a:t>kazanır</a:t>
            </a:r>
            <a:r>
              <a:rPr dirty="0"/>
              <a:t>.</a:t>
            </a:r>
          </a:p>
          <a:p>
            <a:pPr>
              <a:defRPr sz="1700">
                <a:solidFill>
                  <a:srgbClr val="EEEEEE"/>
                </a:solidFill>
              </a:defRPr>
            </a:pPr>
            <a:r>
              <a:rPr dirty="0"/>
              <a:t> 2. </a:t>
            </a:r>
            <a:r>
              <a:rPr dirty="0" err="1"/>
              <a:t>Dışsal</a:t>
            </a:r>
            <a:r>
              <a:rPr dirty="0"/>
              <a:t> </a:t>
            </a:r>
            <a:r>
              <a:rPr dirty="0" err="1"/>
              <a:t>Veriler</a:t>
            </a:r>
            <a:r>
              <a:rPr dirty="0"/>
              <a:t> (Exogenous Variables):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tarihlere</a:t>
            </a:r>
            <a:r>
              <a:rPr dirty="0"/>
              <a:t> </a:t>
            </a:r>
            <a:r>
              <a:rPr dirty="0" err="1"/>
              <a:t>ait</a:t>
            </a:r>
            <a:r>
              <a:rPr dirty="0"/>
              <a:t> </a:t>
            </a:r>
            <a:r>
              <a:rPr dirty="0" err="1"/>
              <a:t>hava</a:t>
            </a:r>
            <a:r>
              <a:rPr dirty="0"/>
              <a:t> </a:t>
            </a:r>
            <a:r>
              <a:rPr dirty="0" err="1"/>
              <a:t>durumu</a:t>
            </a:r>
            <a:r>
              <a:rPr dirty="0"/>
              <a:t> </a:t>
            </a:r>
            <a:r>
              <a:rPr dirty="0" err="1"/>
              <a:t>bilgisi</a:t>
            </a:r>
            <a:r>
              <a:rPr dirty="0"/>
              <a:t> (</a:t>
            </a:r>
            <a:r>
              <a:rPr dirty="0" err="1"/>
              <a:t>Sıcaklık</a:t>
            </a:r>
            <a:r>
              <a:rPr dirty="0"/>
              <a:t>, </a:t>
            </a:r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oranları</a:t>
            </a:r>
            <a:r>
              <a:rPr dirty="0"/>
              <a:t> vb.) </a:t>
            </a:r>
            <a:r>
              <a:rPr dirty="0" err="1"/>
              <a:t>modele</a:t>
            </a:r>
            <a:r>
              <a:rPr dirty="0"/>
              <a:t> </a:t>
            </a:r>
            <a:r>
              <a:rPr dirty="0" err="1"/>
              <a:t>eklenirse</a:t>
            </a:r>
            <a:r>
              <a:rPr dirty="0"/>
              <a:t>, </a:t>
            </a:r>
            <a:r>
              <a:rPr dirty="0" err="1"/>
              <a:t>ekstrem</a:t>
            </a:r>
            <a:r>
              <a:rPr dirty="0"/>
              <a:t> </a:t>
            </a:r>
            <a:r>
              <a:rPr dirty="0" err="1"/>
              <a:t>tüketim</a:t>
            </a:r>
            <a:r>
              <a:rPr dirty="0"/>
              <a:t> </a:t>
            </a:r>
            <a:r>
              <a:rPr dirty="0" err="1"/>
              <a:t>fırlamalarının</a:t>
            </a:r>
            <a:r>
              <a:rPr dirty="0"/>
              <a:t> </a:t>
            </a:r>
            <a:r>
              <a:rPr dirty="0" err="1"/>
              <a:t>ardındaki</a:t>
            </a:r>
            <a:r>
              <a:rPr dirty="0"/>
              <a:t> </a:t>
            </a:r>
            <a:r>
              <a:rPr dirty="0" err="1"/>
              <a:t>fiziksel</a:t>
            </a:r>
            <a:r>
              <a:rPr dirty="0"/>
              <a:t> </a:t>
            </a:r>
            <a:r>
              <a:rPr dirty="0" err="1"/>
              <a:t>sebepler</a:t>
            </a:r>
            <a:r>
              <a:rPr dirty="0"/>
              <a:t> </a:t>
            </a:r>
            <a:r>
              <a:rPr dirty="0" err="1"/>
              <a:t>makine</a:t>
            </a:r>
            <a:r>
              <a:rPr dirty="0"/>
              <a:t> </a:t>
            </a:r>
            <a:r>
              <a:rPr dirty="0" err="1"/>
              <a:t>tarafından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daha</a:t>
            </a:r>
            <a:r>
              <a:rPr dirty="0"/>
              <a:t> net </a:t>
            </a:r>
            <a:r>
              <a:rPr dirty="0" err="1"/>
              <a:t>çözümlenebilir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Haftalık Tahmin: Gerçek Veri ile Model Karşılaştırması</a:t>
            </a:r>
          </a:p>
        </p:txBody>
      </p:sp>
      <p:pic>
        <p:nvPicPr>
          <p:cNvPr id="3" name="Picture 2" descr="haftalik_tes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Aylık Tahmin: Gerçek Veri ile Model Karşılaştırması</a:t>
            </a:r>
          </a:p>
        </p:txBody>
      </p:sp>
      <p:pic>
        <p:nvPicPr>
          <p:cNvPr id="3" name="Picture 2" descr="aylik_tes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ADB5"/>
                </a:solidFill>
              </a:defRPr>
            </a:pPr>
            <a:r>
              <a:t>Yıllık Tahmin: Gerçek Veri ile Model Karşılaştırması</a:t>
            </a:r>
          </a:p>
        </p:txBody>
      </p:sp>
      <p:pic>
        <p:nvPicPr>
          <p:cNvPr id="3" name="Picture 2" descr="yillik_test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1099</Words>
  <Application>Microsoft Macintosh PowerPoint</Application>
  <PresentationFormat>Ekran Gösterisi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Derin Öğrenme ile Enerji Tüketimi Tahminlemesi</vt:lpstr>
      <vt:lpstr>1. Ele Alınan Problemin Tanımı: Neden Enerji Tahmini?</vt:lpstr>
      <vt:lpstr>2. Keşifsel Veri Analizi: PJME Veri Seti</vt:lpstr>
      <vt:lpstr>3. Veri Temizleme ve Ön İşleme (Bölüm 1/2)</vt:lpstr>
      <vt:lpstr>3. Veri Temizleme ve Ön İşleme (Bölüm 2/2)</vt:lpstr>
      <vt:lpstr>4. Kullanılan Derin Öğrenme Algoritması (Bölüm 1/2)</vt:lpstr>
      <vt:lpstr>4. Algoritma ve Optimizasyon Teknikleri (Bölüm 2/2)</vt:lpstr>
      <vt:lpstr>5. Sonuçların Yorumlanması: Metrikler (Bölüm 1/3)</vt:lpstr>
      <vt:lpstr>5. Sonuçların Yorumlanması: Elde Edilen Bulgular (Bölüm 2/3)</vt:lpstr>
      <vt:lpstr>5. Sonuçların Yorumlanması: Gelecek Çalışmalar (Bölüm 3/3)</vt:lpstr>
      <vt:lpstr>Haftalık Tahmin: Gerçek Veri ile Model Karşılaştırması</vt:lpstr>
      <vt:lpstr>Aylık Tahmin: Gerçek Veri ile Model Karşılaştırması</vt:lpstr>
      <vt:lpstr>Yıllık Tahmin: Gerçek Veri ile Model Karşılaştırması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 ile Enerji Tüketimi Tahminlemesi</dc:title>
  <dc:subject/>
  <dc:creator/>
  <cp:keywords/>
  <dc:description>generated using python-pptx</dc:description>
  <cp:lastModifiedBy>oğuzhan DİKMEN</cp:lastModifiedBy>
  <cp:revision>4</cp:revision>
  <dcterms:created xsi:type="dcterms:W3CDTF">2013-01-27T09:14:16Z</dcterms:created>
  <dcterms:modified xsi:type="dcterms:W3CDTF">2026-05-18T11:23:25Z</dcterms:modified>
  <cp:category/>
</cp:coreProperties>
</file>